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233A"/>
                </a:solidFill>
                <a:latin typeface="Arial"/>
              </a:rPr>
              <a:t>Global Cybersecurity Market Size (USD Billion)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Cybersecurity Market ($B)</c:v>
                </c:pt>
              </c:strCache>
            </c:strRef>
          </c:tx>
          <c:spPr>
            <a:solidFill>
              <a:srgbClr val="2E6F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2026</c:v>
                  </c:pt>
                  <c:pt idx="1">
                    <c:v>2028</c:v>
                  </c:pt>
                  <c:pt idx="2">
                    <c:v>2030</c:v>
                  </c:pt>
                  <c:pt idx="3">
                    <c:v>2033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302</c:v>
                </c:pt>
                <c:pt idx="1">
                  <c:v>380</c:v>
                </c:pt>
                <c:pt idx="2">
                  <c:v>480</c:v>
                </c:pt>
                <c:pt idx="3">
                  <c:v>663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233A"/>
                </a:solidFill>
                <a:latin typeface="Arial"/>
              </a:rPr>
              <a:t>Projected Subscriber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2E6F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</c:v>
                </c:pt>
                <c:pt idx="1">
                  <c:v>1600</c:v>
                </c:pt>
                <c:pt idx="2">
                  <c:v>4200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233A"/>
                </a:solidFill>
                <a:latin typeface="Arial"/>
              </a:rPr>
              <a:t>Recurring Revenue Growth Index (Year 1 = 1x)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Recurring Revenue Index</c:v>
                </c:pt>
              </c:strCache>
            </c:strRef>
          </c:tx>
          <c:spPr>
            <a:solidFill>
              <a:srgbClr val="0B1F3B"/>
            </a:solidFill>
            <a:ln w="38100" cap="flat">
              <a:solidFill>
                <a:srgbClr val="0B1F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1F3B"/>
              </a:solidFill>
              <a:ln w="9525" cap="flat">
                <a:solidFill>
                  <a:srgbClr val="0B1F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4.6</c:v>
                </c:pt>
                <c:pt idx="2">
                  <c:v>13.2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image" Target="../media/image-14-1.png"/><Relationship Id="rId4" Type="http://schemas.openxmlformats.org/officeDocument/2006/relationships/image" Target="../media/image-14-2.png"/><Relationship Id="rId5" Type="http://schemas.openxmlformats.org/officeDocument/2006/relationships/image" Target="../media/image-1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498080" y="274320"/>
            <a:ext cx="6035040" cy="6035040"/>
          </a:xfrm>
          <a:prstGeom prst="rect">
            <a:avLst/>
          </a:prstGeom>
        </p:spPr>
      </p:pic>
      <p:pic>
        <p:nvPicPr>
          <p:cNvPr id="3" name="Image 1" descr="image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1234440" cy="1234440"/>
          </a:xfrm>
          <a:prstGeom prst="rect">
            <a:avLst/>
          </a:prstGeom>
          <a:effectLst>
            <a:outerShdw sx="100000" sy="100000" kx="0" ky="0" algn="bl" rotWithShape="0" blurRad="177800" dist="63500" dir="2700000">
              <a:srgbClr val="0B1F3B">
                <a:alpha val="16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640080" y="2651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658368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Businesses. Empowering Growth.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58368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Cybersecurity Management Platform for Startups, SMEs &amp; Growing Organizations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658368" y="5989320"/>
            <a:ext cx="2011680" cy="0"/>
          </a:xfrm>
          <a:prstGeom prst="line">
            <a:avLst/>
          </a:prstGeom>
          <a:noFill/>
          <a:ln w="19050">
            <a:solidFill>
              <a:srgbClr val="2E6F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8368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BUSINESS PORTFOLIO OVERVIEW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Complete Cyber Resilience.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 is an AI-powered cybersecurity management platform built for startups, SMEs, educational institutions, healthcare providers, and other growing organizations that need enterprise-grade protection without enterprise-grade cost or complexity.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unifies security monitoring, employee awareness, vulnerability assessment, and business reporting into a single, centralized dashboard — delivered as an affordable subscription.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691640"/>
            <a:ext cx="22631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928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0" y="2313432"/>
            <a:ext cx="1897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040880" y="2743200"/>
            <a:ext cx="1897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Security Modules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349740" y="1691640"/>
            <a:ext cx="22631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2620" y="189280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32620" y="2313432"/>
            <a:ext cx="1897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9532620" y="2743200"/>
            <a:ext cx="1897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 Segments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858000" y="3337560"/>
            <a:ext cx="22631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53872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3959352"/>
            <a:ext cx="1897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7040880" y="4389120"/>
            <a:ext cx="1897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Subscription Tiers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349740" y="3337560"/>
            <a:ext cx="22631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353872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32620" y="3959352"/>
            <a:ext cx="1897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9532620" y="4389120"/>
            <a:ext cx="1897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Threat Insights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48640" y="461772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0B1F3B"/>
          </a:solidFill>
          <a:ln/>
        </p:spPr>
      </p:sp>
      <p:sp>
        <p:nvSpPr>
          <p:cNvPr id="23" name="Text 17"/>
          <p:cNvSpPr/>
          <p:nvPr/>
        </p:nvSpPr>
        <p:spPr>
          <a:xfrm>
            <a:off x="914400" y="48006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“Enterprise-inspired cybersecurity management, delivered as an affordable, user-friendly SaaS platform for growing businesses.”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Are Under Attack — And Underprepared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70992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exposure to phishing, ransomware, malware, and data-breach risk as digital adoption accelerates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67004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lack dedicated cybersecurity teams or enterprise-scale security budgets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363016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enterprise security suites are expensive, complex to deploy, and built for large IT teams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6400800" y="1691640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6629400" y="1819656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3200" dirty="0"/>
          </a:p>
        </p:txBody>
      </p:sp>
      <p:sp>
        <p:nvSpPr>
          <p:cNvPr id="12" name="Text 7"/>
          <p:cNvSpPr/>
          <p:nvPr/>
        </p:nvSpPr>
        <p:spPr>
          <a:xfrm>
            <a:off x="8092440" y="1828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European SMEs cite limited internal IT capacity as a barrier to advanced security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92440" y="2697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ENISA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6400800" y="3172968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629400" y="330098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8092440" y="331012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in emerging markets delay security upgrades due to cost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092440" y="41788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APNIC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400800" y="4654296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629400" y="478231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8092440" y="479145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security incidents globally involve a phishing component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092440" y="56601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research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Problem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Fast-Growing, Underserved Market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0350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66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Grand View Research, 2026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903720" y="173736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66544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16952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616952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CAGR through 2033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903720" y="2953512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28269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16952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13–15%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616952" y="34107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for the SME security segment — the fastest-growing customer size band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903720" y="4169664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498848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16952" y="42611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$8.6B → $16.9B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7616952" y="46268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cybersecurity market growth, 2025–2030 (14.5% CAGR)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903720" y="51663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MarketsandMarkets, Grand View Research (2026)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548640" y="55321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AF0FE"/>
          </a:solidFill>
          <a:ln/>
        </p:spPr>
      </p:sp>
      <p:sp>
        <p:nvSpPr>
          <p:cNvPr id="20" name="Text 14"/>
          <p:cNvSpPr/>
          <p:nvPr/>
        </p:nvSpPr>
        <p:spPr>
          <a:xfrm>
            <a:off x="822960" y="55321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fastest-growing segment of a $300B+ market has almost no purpose-built, affordable platform — that is CyberShield360's opening.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Centralized. Affordable. AI-Powered.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 provides an affordable, subscription-based SaaS platform that helps organizations monitor security, educate employees, detect vulnerabilities, and improve cyber resilience — all through a single, centralized dashboard.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63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30083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331720" y="30083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visibility into security posture across devices and systems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7647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3721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331720" y="37216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security-first culture with structured employee awareness training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9704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434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2331720" y="4434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vulnerabilities before attackers can exploit them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202936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5148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2331720" y="51480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cyber resilience with AI-driven, actionable recommendations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537960" y="1554480"/>
            <a:ext cx="5394960" cy="3401132"/>
          </a:xfrm>
          <a:prstGeom prst="roundRect">
            <a:avLst>
              <a:gd name="adj" fmla="val 2689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77800" dist="63500" dir="2700000">
              <a:srgbClr val="0B1F3B">
                <a:alpha val="16000"/>
              </a:srgbClr>
            </a:outerShdw>
          </a:effectLst>
        </p:spPr>
      </p:sp>
      <p:pic>
        <p:nvPicPr>
          <p:cNvPr id="18" name="Image 4" descr="images/web_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691640"/>
            <a:ext cx="5120640" cy="31268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37960" y="50927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Security Dashboard — Real-Time Health Score &amp; Threat Overview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Cybersecurity Command Center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 is a cloud-based cybersecurity management application offering AI-powered insights, security scoring, vulnerability management, employee awareness training, and reporting — accessible anywhere, on any device.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907792"/>
            <a:ext cx="640080" cy="64008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307421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033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42519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Machine-driven analysis surfaces the risks that matter most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26517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5032" y="2907792"/>
            <a:ext cx="640080" cy="64008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453" y="307421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7033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Scoring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57600" y="42519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easy-to-understand Security Health Score for the whole org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26517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907792"/>
            <a:ext cx="640080" cy="64008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813" y="307421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37033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37960" y="42519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scanning and prioritized remediation guidance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89720" y="26517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45752" y="2907792"/>
            <a:ext cx="640080" cy="64008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173" y="3074213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0" y="37033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Training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418320" y="42519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awareness modules and phishing simulations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Integrated Modules. One Dashboard.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029968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81" y="217736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249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Dashboard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16352" y="182880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93592" y="2029968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993" y="2177369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07792" y="27249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Health Score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84064" y="182880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61304" y="2029968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705" y="2177369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75504" y="27249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51776" y="182880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129016" y="2029968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417" y="2177369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43216" y="27249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Monitoring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619488" y="182880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396728" y="2029968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4129" y="2177369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10928" y="27249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Security Training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3630168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325880" y="3831336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81" y="3978737"/>
            <a:ext cx="272125" cy="2721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0080" y="45262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2816352" y="3630168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593592" y="3831336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0993" y="3978737"/>
            <a:ext cx="272125" cy="27212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907792" y="45262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Reports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084064" y="3630168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861304" y="3831336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8705" y="3978737"/>
            <a:ext cx="272125" cy="27212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75504" y="45262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Center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7351776" y="3630168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129016" y="3831336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6417" y="3978737"/>
            <a:ext cx="272125" cy="27212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443216" y="45262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9619488" y="3630168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10396728" y="3831336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4129" y="3978737"/>
            <a:ext cx="272125" cy="272125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710928" y="45262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45" name="Text 33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800" dirty="0"/>
          </a:p>
        </p:txBody>
      </p:sp>
      <p:sp>
        <p:nvSpPr>
          <p:cNvPr id="46" name="Text 3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Clarity. Built for Action.</a:t>
            </a:r>
            <a:endParaRPr lang="en-US" sz="3000" dirty="0"/>
          </a:p>
        </p:txBody>
      </p:sp>
      <p:pic>
        <p:nvPicPr>
          <p:cNvPr id="4" name="Image 0" descr="images/web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943600" cy="3629335"/>
          </a:xfrm>
          <a:prstGeom prst="rect">
            <a:avLst/>
          </a:prstGeom>
          <a:effectLst>
            <a:outerShdw sx="100000" sy="100000" kx="0" ky="0" algn="bl" rotWithShape="0" blurRad="177800" dist="63500" dir="2700000">
              <a:srgbClr val="0B1F3B">
                <a:alpha val="16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503855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— Security Health Score, Threats, and Vulnerabilities at a Glance</a:t>
            </a:r>
            <a:endParaRPr lang="en-US" sz="1000" dirty="0"/>
          </a:p>
        </p:txBody>
      </p:sp>
      <p:pic>
        <p:nvPicPr>
          <p:cNvPr id="6" name="Image 1" descr="images/mob_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37360"/>
            <a:ext cx="1417320" cy="2892490"/>
          </a:xfrm>
          <a:prstGeom prst="rect">
            <a:avLst/>
          </a:prstGeom>
          <a:effectLst>
            <a:outerShdw sx="100000" sy="100000" kx="0" ky="0" algn="bl" rotWithShape="0" blurRad="177800" dist="63500" dir="2700000">
              <a:srgbClr val="0B1F3B">
                <a:alpha val="16000"/>
              </a:srgbClr>
            </a:outerShdw>
          </a:effectLst>
        </p:spPr>
      </p:pic>
      <p:pic>
        <p:nvPicPr>
          <p:cNvPr id="7" name="Image 2" descr="images/mob_repor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37360"/>
            <a:ext cx="1417320" cy="2674189"/>
          </a:xfrm>
          <a:prstGeom prst="rect">
            <a:avLst/>
          </a:prstGeom>
          <a:effectLst>
            <a:outerShdw sx="100000" sy="100000" kx="0" ky="0" algn="bl" rotWithShape="0" blurRad="177800" dist="63500" dir="2700000">
              <a:srgbClr val="0B1F3B">
                <a:alpha val="16000"/>
              </a:srgbClr>
            </a:outerShdw>
          </a:effectLst>
        </p:spPr>
      </p:pic>
      <p:pic>
        <p:nvPicPr>
          <p:cNvPr id="8" name="Image 3" descr="images/mob_t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737360"/>
            <a:ext cx="1417320" cy="3173564"/>
          </a:xfrm>
          <a:prstGeom prst="rect">
            <a:avLst/>
          </a:prstGeom>
          <a:effectLst>
            <a:outerShdw sx="100000" sy="100000" kx="0" ky="0" algn="bl" rotWithShape="0" blurRad="177800" dist="63500" dir="2700000">
              <a:srgbClr val="0B1F3B">
                <a:alpha val="16000"/>
              </a:srgbClr>
            </a:outerShdw>
          </a:effectLst>
        </p:spPr>
      </p:pic>
      <p:sp>
        <p:nvSpPr>
          <p:cNvPr id="9" name="Text 3"/>
          <p:cNvSpPr/>
          <p:nvPr/>
        </p:nvSpPr>
        <p:spPr>
          <a:xfrm>
            <a:off x="6903720" y="5394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</a:t>
            </a:r>
            <a:endParaRPr lang="en-US" sz="950" dirty="0"/>
          </a:p>
        </p:txBody>
      </p:sp>
      <p:sp>
        <p:nvSpPr>
          <p:cNvPr id="10" name="Text 4"/>
          <p:cNvSpPr/>
          <p:nvPr/>
        </p:nvSpPr>
        <p:spPr>
          <a:xfrm>
            <a:off x="8503920" y="5394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Reports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10104120" y="5394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Training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Growing Organization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0764" y="2121408"/>
            <a:ext cx="621792" cy="621792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2430" y="2283074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&amp; Medium Businesses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828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29684" y="2121408"/>
            <a:ext cx="621792" cy="621792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350" y="2283074"/>
            <a:ext cx="298460" cy="298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828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18604" y="2121408"/>
            <a:ext cx="621792" cy="621792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270" y="2283074"/>
            <a:ext cx="298460" cy="298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15400" y="1828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907524" y="2121408"/>
            <a:ext cx="621792" cy="621792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190" y="2283074"/>
            <a:ext cx="298460" cy="298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5256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Organizations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540764" y="4270248"/>
            <a:ext cx="621792" cy="621792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2430" y="4431914"/>
            <a:ext cx="298460" cy="298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" y="5074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337560" y="3977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329684" y="4270248"/>
            <a:ext cx="621792" cy="621792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1350" y="4431914"/>
            <a:ext cx="298460" cy="298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74720" y="5074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 Providers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126480" y="3977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118604" y="4270248"/>
            <a:ext cx="621792" cy="621792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0270" y="4431914"/>
            <a:ext cx="298460" cy="298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63640" y="5074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 Firms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8915400" y="3977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907524" y="4270248"/>
            <a:ext cx="621792" cy="621792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9190" y="4431914"/>
            <a:ext cx="298460" cy="2984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52560" y="5074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Contractors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37" name="Text 27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800" dirty="0"/>
          </a:p>
        </p:txBody>
      </p:sp>
      <p:sp>
        <p:nvSpPr>
          <p:cNvPr id="38" name="Text 2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Diversified, Recurring SaaS Revenue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 (SaaS) — five complementary revenue streams built around a recurring subscription core.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6736" y="2587752"/>
            <a:ext cx="548640" cy="54864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382" y="273039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918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393192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recurring revenue from Starter and Business Shield plans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79776" y="23317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587752"/>
            <a:ext cx="548640" cy="54864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518" y="273039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6936" y="32918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Subscriptions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916936" y="393192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annual commitments that improve retention and cash flow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10912" y="23317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79008" y="2587752"/>
            <a:ext cx="548640" cy="54864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654" y="2730398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48072" y="32918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Licensing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148072" y="393192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Custom-priced licensing for large, multi-location organizations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242048" y="23317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10144" y="2587752"/>
            <a:ext cx="548640" cy="54864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790" y="2730398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9208" y="32918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Consulting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379208" y="393192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engagements for security strategy and compliance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473184" y="23317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241280" y="2587752"/>
            <a:ext cx="548640" cy="54864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926" y="2730398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10344" y="32918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Training Packages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610344" y="393192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awareness and phishing-simulation training add-ons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Tiers That Scale With Our Customers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Shield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/month</a:t>
            </a:r>
            <a:endParaRPr lang="en-US" sz="3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31912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Dashboard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850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3630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Vulnerability Scan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2394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Security Report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6285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45079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343400" y="173736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77800" dist="63500" dir="2700000">
              <a:srgbClr val="0B1F3B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372100" y="1554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E6FF2"/>
          </a:solidFill>
          <a:ln/>
        </p:spPr>
      </p:sp>
      <p:sp>
        <p:nvSpPr>
          <p:cNvPr id="17" name="Text 11"/>
          <p:cNvSpPr/>
          <p:nvPr/>
        </p:nvSpPr>
        <p:spPr>
          <a:xfrm>
            <a:off x="53721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61772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Shield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617720" y="2468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₹1,499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/month</a:t>
            </a:r>
            <a:endParaRPr lang="en-US" sz="3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10328" y="31912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Vulnerability Assessment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68503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910328" y="3630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Training</a:t>
            </a:r>
            <a:endParaRPr lang="en-US" sz="10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123944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910328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</a:t>
            </a:r>
            <a:endParaRPr lang="en-US" sz="10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4562856"/>
            <a:ext cx="219456" cy="2194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910328" y="45079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Alerts</a:t>
            </a:r>
            <a:endParaRPr lang="en-US" sz="10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5001768"/>
            <a:ext cx="219456" cy="219456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910328" y="49469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50" dirty="0"/>
          </a:p>
        </p:txBody>
      </p:sp>
      <p:sp>
        <p:nvSpPr>
          <p:cNvPr id="30" name="Shape 19"/>
          <p:cNvSpPr/>
          <p:nvPr/>
        </p:nvSpPr>
        <p:spPr>
          <a:xfrm>
            <a:off x="8138160" y="173736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31" name="Text 20"/>
          <p:cNvSpPr/>
          <p:nvPr/>
        </p:nvSpPr>
        <p:spPr>
          <a:xfrm>
            <a:off x="841248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Shield</a:t>
            </a:r>
            <a:endParaRPr lang="en-US" sz="1600" dirty="0"/>
          </a:p>
        </p:txBody>
      </p:sp>
      <p:sp>
        <p:nvSpPr>
          <p:cNvPr id="32" name="Text 21"/>
          <p:cNvSpPr/>
          <p:nvPr/>
        </p:nvSpPr>
        <p:spPr>
          <a:xfrm>
            <a:off x="8412480" y="2468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Pricing</a:t>
            </a:r>
            <a:endParaRPr lang="en-US" sz="30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0" y="3246120"/>
            <a:ext cx="219456" cy="21945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705088" y="31912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0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0" y="3685032"/>
            <a:ext cx="219456" cy="219456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8705088" y="3630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Monitoring</a:t>
            </a:r>
            <a:endParaRPr lang="en-US" sz="10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2480" y="4123944"/>
            <a:ext cx="219456" cy="219456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8705088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</a:t>
            </a:r>
            <a:endParaRPr lang="en-US" sz="105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2480" y="4562856"/>
            <a:ext cx="219456" cy="219456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8705088" y="45079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Management</a:t>
            </a:r>
            <a:endParaRPr lang="en-US" sz="105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2480" y="5001768"/>
            <a:ext cx="219456" cy="219456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8705088" y="49469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05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2480" y="5440680"/>
            <a:ext cx="219456" cy="219456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8705088" y="53858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Support</a:t>
            </a:r>
            <a:endParaRPr lang="en-US" sz="1050" dirty="0"/>
          </a:p>
        </p:txBody>
      </p:sp>
      <p:sp>
        <p:nvSpPr>
          <p:cNvPr id="45" name="Text 2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46" name="Text 29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800" dirty="0"/>
          </a:p>
        </p:txBody>
      </p:sp>
      <p:sp>
        <p:nvSpPr>
          <p:cNvPr id="47" name="Text 3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Awareness to Long-Term Partnership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411480" cy="41148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22219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88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marketing, SEO, and cybersecurity education aimed at founders and IT leads at SMEs, schools, clinics, and retailers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502152"/>
            <a:ext cx="146304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66160" y="2194560"/>
            <a:ext cx="411480" cy="41148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13" name="Text 9"/>
          <p:cNvSpPr/>
          <p:nvPr/>
        </p:nvSpPr>
        <p:spPr>
          <a:xfrm>
            <a:off x="35661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22199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6160" y="2788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66160" y="32461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outreach, channel partnerships with IT resellers/MSSPs, and a self-serve free trial on the Starter Shield plan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502152"/>
            <a:ext cx="146304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648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55080" y="2194560"/>
            <a:ext cx="411480" cy="41148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20" name="Text 14"/>
          <p:cNvSpPr/>
          <p:nvPr/>
        </p:nvSpPr>
        <p:spPr>
          <a:xfrm>
            <a:off x="63550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22199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55080" y="2788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355080" y="32461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onboarding, employee training rollout, and phishing simulations to drive early engagement and habit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808" y="3502152"/>
            <a:ext cx="146304" cy="2194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91540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144000" y="2194560"/>
            <a:ext cx="411480" cy="41148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27" name="Text 19"/>
          <p:cNvSpPr/>
          <p:nvPr/>
        </p:nvSpPr>
        <p:spPr>
          <a:xfrm>
            <a:off x="91440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2221992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44000" y="2788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9144000" y="32461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from Starter to Business and Enterprise Shield as customers grow, plus cross-sell of consulting and training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Alternative for Growing Businesses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0B1F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2356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0100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Tools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195560" y="17830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Suites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274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for SMEs</a:t>
            </a:r>
            <a:endParaRPr lang="en-US" sz="11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264" y="2441448"/>
            <a:ext cx="256032" cy="25603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264" y="2441448"/>
            <a:ext cx="256032" cy="256032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2441448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48640" y="2852928"/>
            <a:ext cx="11274552" cy="566928"/>
          </a:xfrm>
          <a:prstGeom prst="rect">
            <a:avLst/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31520" y="285292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3008376"/>
            <a:ext cx="256032" cy="256032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4" y="3008376"/>
            <a:ext cx="256032" cy="256032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0" y="3008376"/>
            <a:ext cx="256032" cy="25603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48640" y="3419856"/>
            <a:ext cx="11274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731520" y="341985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Easy-to-Use Interface</a:t>
            </a:r>
            <a:endParaRPr lang="en-US" sz="11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3575304"/>
            <a:ext cx="256032" cy="256032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0264" y="3575304"/>
            <a:ext cx="256032" cy="256032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1360" y="3575304"/>
            <a:ext cx="256032" cy="256032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548640" y="3986784"/>
            <a:ext cx="11274552" cy="566928"/>
          </a:xfrm>
          <a:prstGeom prst="rect">
            <a:avLst/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5" name="Text 14"/>
          <p:cNvSpPr/>
          <p:nvPr/>
        </p:nvSpPr>
        <p:spPr>
          <a:xfrm>
            <a:off x="731520" y="398678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Awareness Training</a:t>
            </a:r>
            <a:endParaRPr lang="en-US" sz="11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4264" y="4142232"/>
            <a:ext cx="256032" cy="256032"/>
          </a:xfrm>
          <a:prstGeom prst="rect">
            <a:avLst/>
          </a:prstGeom>
        </p:spPr>
      </p:pic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0264" y="4142232"/>
            <a:ext cx="256032" cy="256032"/>
          </a:xfrm>
          <a:prstGeom prst="rect">
            <a:avLst/>
          </a:prstGeom>
        </p:spPr>
      </p:pic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81360" y="4142232"/>
            <a:ext cx="256032" cy="256032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548640" y="4553712"/>
            <a:ext cx="11274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16"/>
          <p:cNvSpPr/>
          <p:nvPr/>
        </p:nvSpPr>
        <p:spPr>
          <a:xfrm>
            <a:off x="731520" y="455371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</a:t>
            </a:r>
            <a:endParaRPr lang="en-US" sz="115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4264" y="4709160"/>
            <a:ext cx="256032" cy="256032"/>
          </a:xfrm>
          <a:prstGeom prst="rect">
            <a:avLst/>
          </a:prstGeom>
        </p:spPr>
      </p:pic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70264" y="4709160"/>
            <a:ext cx="256032" cy="256032"/>
          </a:xfrm>
          <a:prstGeom prst="rect">
            <a:avLst/>
          </a:prstGeom>
        </p:spPr>
      </p:pic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81360" y="4709160"/>
            <a:ext cx="256032" cy="256032"/>
          </a:xfrm>
          <a:prstGeom prst="rect">
            <a:avLst/>
          </a:prstGeom>
        </p:spPr>
      </p:pic>
      <p:sp>
        <p:nvSpPr>
          <p:cNvPr id="34" name="Shape 17"/>
          <p:cNvSpPr/>
          <p:nvPr/>
        </p:nvSpPr>
        <p:spPr>
          <a:xfrm>
            <a:off x="548640" y="5120640"/>
            <a:ext cx="11274552" cy="566928"/>
          </a:xfrm>
          <a:prstGeom prst="rect">
            <a:avLst/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35" name="Text 18"/>
          <p:cNvSpPr/>
          <p:nvPr/>
        </p:nvSpPr>
        <p:spPr>
          <a:xfrm>
            <a:off x="731520" y="512064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&amp; Scalable</a:t>
            </a:r>
            <a:endParaRPr lang="en-US" sz="1150" dirty="0"/>
          </a:p>
        </p:txBody>
      </p:sp>
      <p:pic>
        <p:nvPicPr>
          <p:cNvPr id="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84264" y="5276088"/>
            <a:ext cx="256032" cy="256032"/>
          </a:xfrm>
          <a:prstGeom prst="rect">
            <a:avLst/>
          </a:prstGeom>
        </p:spPr>
      </p:pic>
      <p:pic>
        <p:nvPicPr>
          <p:cNvPr id="3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70264" y="5276088"/>
            <a:ext cx="256032" cy="256032"/>
          </a:xfrm>
          <a:prstGeom prst="rect">
            <a:avLst/>
          </a:prstGeom>
        </p:spPr>
      </p:pic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81360" y="5276088"/>
            <a:ext cx="256032" cy="256032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548640" y="5824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✓ Full capability     – Partial / add-on     ✕ Not offered</a:t>
            </a:r>
            <a:endParaRPr lang="en-US" sz="900" dirty="0"/>
          </a:p>
        </p:txBody>
      </p:sp>
      <p:sp>
        <p:nvSpPr>
          <p:cNvPr id="40" name="Text 2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41" name="Text 21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800" dirty="0"/>
          </a:p>
        </p:txBody>
      </p:sp>
      <p:sp>
        <p:nvSpPr>
          <p:cNvPr id="42" name="Text 2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3-Year Growth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portfolio demonstration purposes — projections are illustrative and based on target subscription mix, not audited results.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72200" y="210312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32120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54589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weighted toward Business Shield plan uptake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824728"/>
            <a:ext cx="182880" cy="182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575157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gradual expansion into consulting &amp; training add-ons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117336"/>
            <a:ext cx="182880" cy="1828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2960" y="604418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licensing modeled as upside, not baseline</a:t>
            </a:r>
            <a:endParaRPr lang="en-US" sz="1000" dirty="0"/>
          </a:p>
        </p:txBody>
      </p:sp>
      <p:sp>
        <p:nvSpPr>
          <p:cNvPr id="13" name="Text 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14" name="Text 7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Highlights</a:t>
            </a:r>
            <a:endParaRPr lang="en-US" sz="800" dirty="0"/>
          </a:p>
        </p:txBody>
      </p:sp>
      <p:sp>
        <p:nvSpPr>
          <p:cNvPr id="15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Path From MVP to Global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2377440"/>
            <a:ext cx="9784080" cy="0"/>
          </a:xfrm>
          <a:prstGeom prst="line">
            <a:avLst/>
          </a:prstGeom>
          <a:noFill/>
          <a:ln w="25400">
            <a:solidFill>
              <a:srgbClr val="E4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04872" y="2176272"/>
            <a:ext cx="402336" cy="402336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6" name="Text 4"/>
          <p:cNvSpPr/>
          <p:nvPr/>
        </p:nvSpPr>
        <p:spPr>
          <a:xfrm>
            <a:off x="24048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97764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3922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MVP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39826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Dashboard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81888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764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Scanner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523951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5184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System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199632" y="2176272"/>
            <a:ext cx="402336" cy="402336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9" name="Text 13"/>
          <p:cNvSpPr/>
          <p:nvPr/>
        </p:nvSpPr>
        <p:spPr>
          <a:xfrm>
            <a:off x="61996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709160" y="288036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498348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98348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7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97764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57800" y="3922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Detection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398264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5780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4818888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57800" y="4764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Training Portal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9994392" y="2176272"/>
            <a:ext cx="402336" cy="402336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30" name="Text 21"/>
          <p:cNvSpPr/>
          <p:nvPr/>
        </p:nvSpPr>
        <p:spPr>
          <a:xfrm>
            <a:off x="999439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Shape 22"/>
          <p:cNvSpPr/>
          <p:nvPr/>
        </p:nvSpPr>
        <p:spPr>
          <a:xfrm>
            <a:off x="8503920" y="288036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1F3B">
                <a:alpha val="12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877824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877824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7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3977640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52560" y="3922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Management</a:t>
            </a:r>
            <a:endParaRPr lang="en-US" sz="11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0" y="4398264"/>
            <a:ext cx="201168" cy="20116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05256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</a:t>
            </a:r>
            <a:endParaRPr lang="en-US" sz="11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8240" y="4818888"/>
            <a:ext cx="201168" cy="20116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9052560" y="4764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</a:t>
            </a:r>
            <a:endParaRPr lang="en-US" sz="1150" dirty="0"/>
          </a:p>
        </p:txBody>
      </p:sp>
      <p:sp>
        <p:nvSpPr>
          <p:cNvPr id="40" name="Text 2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41" name="Text 29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800" dirty="0"/>
          </a:p>
        </p:txBody>
      </p:sp>
      <p:sp>
        <p:nvSpPr>
          <p:cNvPr id="42" name="Text 3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India's Trusted Platform to Global Reach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To become India's most trusted cybersecurity management platform for small and medium-sized businesses.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To make enterprise-grade cybersecurity accessible, affordable, and easy to manage for every growing business.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32A4D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502152"/>
            <a:ext cx="566928" cy="566928"/>
          </a:xfrm>
          <a:prstGeom prst="ellipse">
            <a:avLst/>
          </a:prstGeom>
          <a:solidFill>
            <a:srgbClr val="1B366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3649553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Management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754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support for regulatory frameworks as customers scale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32461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32A4D"/>
          </a:solidFill>
          <a:ln/>
        </p:spPr>
      </p:sp>
      <p:sp>
        <p:nvSpPr>
          <p:cNvPr id="12" name="Shape 9"/>
          <p:cNvSpPr/>
          <p:nvPr/>
        </p:nvSpPr>
        <p:spPr>
          <a:xfrm>
            <a:off x="4526280" y="3502152"/>
            <a:ext cx="566928" cy="566928"/>
          </a:xfrm>
          <a:prstGeom prst="ellipse">
            <a:avLst/>
          </a:prstGeom>
          <a:solidFill>
            <a:srgbClr val="1B366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81" y="364955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26280" y="4754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integrations with existing IT, HR, and security tooling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32461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32A4D"/>
          </a:solidFill>
          <a:ln/>
        </p:spPr>
      </p:sp>
      <p:sp>
        <p:nvSpPr>
          <p:cNvPr id="17" name="Shape 13"/>
          <p:cNvSpPr/>
          <p:nvPr/>
        </p:nvSpPr>
        <p:spPr>
          <a:xfrm>
            <a:off x="8275320" y="3502152"/>
            <a:ext cx="566928" cy="566928"/>
          </a:xfrm>
          <a:prstGeom prst="ellipse">
            <a:avLst/>
          </a:prstGeom>
          <a:solidFill>
            <a:srgbClr val="1B366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721" y="364955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275320" y="4754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beyond India into other high-growth SME markets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CYBERSHIELD360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Win Where Growing Businesses Live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7373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pricing designed specifically for SMEs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974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6060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insights, not just raw alerts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34747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Easy-to-use interface requiring no dedicated IT team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3484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43434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accessibility from anywhere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82880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812280" y="17373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Comprehensive, board-ready reporting</a:t>
            </a:r>
            <a:endParaRPr lang="en-US" sz="13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69748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812280" y="26060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employee awareness training</a:t>
            </a:r>
            <a:endParaRPr lang="en-US" sz="13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566160"/>
            <a:ext cx="274320" cy="27432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812280" y="34747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subscription model that grows with the customer</a:t>
            </a:r>
            <a:endParaRPr lang="en-US" sz="1350" dirty="0"/>
          </a:p>
        </p:txBody>
      </p:sp>
      <p:sp>
        <p:nvSpPr>
          <p:cNvPr id="18" name="Shape 9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0B1F3B"/>
          </a:solidFill>
          <a:ln/>
        </p:spPr>
      </p:sp>
      <p:sp>
        <p:nvSpPr>
          <p:cNvPr id="19" name="Text 10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protection. Startup-friendly pricing. Built for the businesses the industry has overlooked.</a:t>
            </a:r>
            <a:endParaRPr lang="en-US" sz="1300" dirty="0"/>
          </a:p>
        </p:txBody>
      </p:sp>
      <p:sp>
        <p:nvSpPr>
          <p:cNvPr id="20" name="Text 1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</a:t>
            </a:r>
            <a:endParaRPr lang="en-US" sz="800" dirty="0"/>
          </a:p>
        </p:txBody>
      </p:sp>
      <p:sp>
        <p:nvSpPr>
          <p:cNvPr id="21" name="Text 12"/>
          <p:cNvSpPr/>
          <p:nvPr/>
        </p:nvSpPr>
        <p:spPr>
          <a:xfrm>
            <a:off x="32918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CyberShield360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1371600" y="1828800"/>
            <a:ext cx="6035040" cy="6035040"/>
          </a:xfrm>
          <a:prstGeom prst="rect">
            <a:avLst/>
          </a:prstGeom>
        </p:spPr>
      </p:pic>
      <p:pic>
        <p:nvPicPr>
          <p:cNvPr id="3" name="Image 1" descr="image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236" y="1371600"/>
            <a:ext cx="1554480" cy="1554480"/>
          </a:xfrm>
          <a:prstGeom prst="rect">
            <a:avLst/>
          </a:prstGeom>
          <a:effectLst>
            <a:outerShdw sx="100000" sy="100000" kx="0" ky="0" algn="bl" rotWithShape="0" blurRad="177800" dist="63500" dir="2700000">
              <a:srgbClr val="0B1F3B">
                <a:alpha val="16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0" y="32004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Businesses. Empowering Growth.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0" y="6035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4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CYBERSHIELD360  |  AI-POWERED CYBERSECURITY MANAGEMENT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CyberShield360 - Investor &amp; Portfolio Overview</dc:title>
  <dc:subject>PptxGenJS Presentation</dc:subject>
  <dc:creator>CyberShield360</dc:creator>
  <cp:lastModifiedBy>CyberShield360</cp:lastModifiedBy>
  <cp:revision>1</cp:revision>
  <dcterms:created xsi:type="dcterms:W3CDTF">2026-07-04T18:24:20Z</dcterms:created>
  <dcterms:modified xsi:type="dcterms:W3CDTF">2026-07-04T18:24:20Z</dcterms:modified>
</cp:coreProperties>
</file>